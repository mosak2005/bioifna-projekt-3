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234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54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1 / 12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6583680" y="-1280160"/>
            <a:ext cx="3657600" cy="3657600"/>
          </a:xfrm>
          <a:prstGeom prst="ellipse">
            <a:avLst/>
          </a:prstGeom>
          <a:solidFill>
            <a:srgbClr val="1D4ED8">
              <a:alpha val="28000"/>
            </a:srgbClr>
          </a:solidFill>
          <a:ln w="12700">
            <a:solidFill>
              <a:srgbClr val="1D4ED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7772400" y="3291840"/>
            <a:ext cx="1828800" cy="1828800"/>
          </a:xfrm>
          <a:prstGeom prst="ellipse">
            <a:avLst/>
          </a:prstGeom>
          <a:solidFill>
            <a:srgbClr val="2DD4BF">
              <a:alpha val="22000"/>
            </a:srgbClr>
          </a:solidFill>
          <a:ln w="12700">
            <a:solidFill>
              <a:srgbClr val="2DD4B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danych Hi-C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integracja z danymi 1D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84048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Mateusz Osak  ·  Krzysztof Dąbrowski  ·  Szymon Domański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IMR-90 · in situ Hi-C · Rao et al., Cell 2014 · GSE63525 · hg19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Wstęp do Bioinformatyki i Genomiki Obliczeniowej,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1360627" cy="274320"/>
          </a:xfrm>
          <a:prstGeom prst="roundRect">
            <a:avLst>
              <a:gd name="adj" fmla="val 23333"/>
            </a:avLst>
          </a:prstGeom>
          <a:solidFill>
            <a:srgbClr val="2DD4BF">
              <a:alpha val="28000"/>
            </a:srgbClr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76072" y="4000500"/>
            <a:ext cx="126918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Hi-C Viz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91563" y="3977640"/>
            <a:ext cx="1854403" cy="274320"/>
          </a:xfrm>
          <a:prstGeom prst="roundRect">
            <a:avLst>
              <a:gd name="adj" fmla="val 23333"/>
            </a:avLst>
          </a:prstGeom>
          <a:solidFill>
            <a:srgbClr val="4ADE80">
              <a:alpha val="28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064715" y="4000500"/>
            <a:ext cx="17629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TAD Detection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973982" y="3977640"/>
            <a:ext cx="965606" cy="274320"/>
          </a:xfrm>
          <a:prstGeom prst="roundRect">
            <a:avLst>
              <a:gd name="adj" fmla="val 23333"/>
            </a:avLst>
          </a:prstGeom>
          <a:solidFill>
            <a:srgbClr val="C084FC">
              <a:alpha val="28000"/>
            </a:srgbClr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047134" y="4000500"/>
            <a:ext cx="8741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CTCF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67605" y="3977640"/>
            <a:ext cx="1953158" cy="274320"/>
          </a:xfrm>
          <a:prstGeom prst="roundRect">
            <a:avLst>
              <a:gd name="adj" fmla="val 23333"/>
            </a:avLst>
          </a:prstGeom>
          <a:solidFill>
            <a:srgbClr val="FB923C">
              <a:alpha val="28000"/>
            </a:srgbClr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5140757" y="4000500"/>
            <a:ext cx="1861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4. 1D Integration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48779" y="3977640"/>
            <a:ext cx="1419149" cy="274320"/>
          </a:xfrm>
          <a:prstGeom prst="roundRect">
            <a:avLst>
              <a:gd name="adj" fmla="val 23333"/>
            </a:avLst>
          </a:prstGeom>
          <a:solidFill>
            <a:srgbClr val="F87171">
              <a:alpha val="28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221931" y="4000500"/>
            <a:ext cx="19604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5. Chromatin Loops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2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Wizualizacja danych Hi-C — Dane i przegląd chr17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292608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 Hi-C IMR-90 (ludzkie fibroblasty płucne), Rao et al. 2014 (GSE63525). Pełnogenomowe, MAPQ≥30, mapowanie do hg19.
</a:t>
            </a: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Wczytywanie: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 .hic skonwertowany do .cool (25 kb / 250 kb) narzędziem hic2cool. Biblioteka cooler.
</a:t>
            </a: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Obserwacja @ 250 kb: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Mało wyraźna szachownica sugeruje podział chromatyny na przedziały A i B.
</a:t>
            </a: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Skupiamy się: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rozdzielczości 25 kb, gdzie TAD-y są bardziej widoczne.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525" y="749808"/>
            <a:ext cx="449135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26525" y="4544568"/>
            <a:ext cx="44913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IMR-90 Hi-C — cały chr17 @ 250 kb (raw)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3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Wizualizacja danych Hi-C — Region chr17:30–35 Mb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47" y="777240"/>
            <a:ext cx="3948333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647" y="4160520"/>
            <a:ext cx="39483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chr17:30–35 Mb @ 25 kb — raw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777240"/>
            <a:ext cx="3948333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32020" y="4160520"/>
            <a:ext cx="394833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chr17:30–35 Mb @ 25 kb — KR normalized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63647" y="4434840"/>
            <a:ext cx="821670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Normalizacja KR (Knight-Ruiz):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algorytm wbudowany w bibliotekę cooler. Normalizacja sprawia, że łatwiej wizualnie zaobserwować granice między domenami TAD — zagęszczenia kontaktów wzdłuż przekątnej stają się wyraźniejsze.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4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Detekcja TAD-ów — Metody i porównanie granic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9808"/>
            <a:ext cx="3291840" cy="288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657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Zbiorcze domeny TAD (IS/DI/Ref) · chr17:30–35 Mb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749808"/>
            <a:ext cx="5074920" cy="25086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3285851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Profile Insulation Score i Directionality Index z granicami TAD vs referencja Rao Arrowhead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840480" y="3514451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Parametry dobieraliśmy tak, aby liczba TAD-ów zgadzała się z danymi referencyjnymi.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40480" y="3816203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→ wyższa precyzja, gorszy recall.   IS → lepszy recall, dobre dopasowanie małych domen.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5760" y="3885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Score (niebieski) dobrze mapuje małe domeny. Directionality Index (zielony) — większe domeny, wyższa precyzja. Referencja Arrowhead Rao 2014 (czerwony).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5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Detekcja TAD-ów — Rozkład wielkości domen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822960"/>
            <a:ext cx="7863840" cy="30899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958597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Rozkład gęstości szerokości wykrytych TAD-ów + Boxplot zróżnicowania wielkości domen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40080" y="4232917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Rozkład gęstości potwierdza dobre spasowanie metody Insulation Score. Zarówno na wykresie gęstości jak na boxplocie obserwujemy duże podobieństwo rozkładów między IS a referencją Rao 2014. Directionality Index generuje szerszy rozkład — wynika to z wykrywania głównie dużych domen.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6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Analiza motywów CTCF — Wzbogacenie na granicach TAD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395" y="749808"/>
            <a:ext cx="6487211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395" y="3986784"/>
            <a:ext cx="6487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Zagęszczenie motywów CTCF wokół granic TAD-ów (±400 kb) — Insulation Score, hg19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65760" y="4224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 z JASPAR (MA0139.1) → PWM → PSSM (log2 odds). One-hot encoding sekwencji hg19. Skanowanie nici + i − (</a:t>
            </a:r>
            <a:r>
              <a:rPr lang="pl-PL" sz="9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r>
              <a:rPr lang="pl-PL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pl-PL" sz="9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Próg odcięcia: top 0.1% (99.9 percentyl).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663440" y="42245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</a:t>
            </a:r>
            <a:r>
              <a:rPr lang="pl-PL" sz="950" i="1" dirty="0" err="1"/>
              <a:t>Peak</a:t>
            </a:r>
            <a:r>
              <a:rPr lang="pl-PL" sz="950" i="1" dirty="0"/>
              <a:t> wzbogacenia motywów CTCF wokół 0 </a:t>
            </a:r>
            <a:r>
              <a:rPr lang="pl-PL" sz="950" i="1" dirty="0" err="1"/>
              <a:t>kb</a:t>
            </a:r>
            <a:r>
              <a:rPr lang="pl-PL" sz="950" i="1" dirty="0"/>
              <a:t> — granice TAD-ów są istotnie bogatsze w motywy niż obszary oddalone od nich.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7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Analiza motywów CTCF — Reguła zbieżności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42950"/>
            <a:ext cx="4908499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59" y="4480560"/>
            <a:ext cx="49084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Orientacja motywów CTCF na kotwicach pętli chromatynowych (HiCCUPS) — reguła zbieżności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274259" y="2054763"/>
            <a:ext cx="3503981" cy="959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oknie 12 kb wykres słupkowy dosyć dobrze oddaje naturę pętli chromatynowych: na lewych kotwicach pętli przeważa orientacja na nici głównej (+), natomiast na prawych kotwicach dominuje nić komplementarna (−). Reguła zbieżności potwierdzona.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8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Integracja z danymi 1D — Multi-track plot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230" y="685800"/>
            <a:ext cx="5206950" cy="3685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78230" y="4430268"/>
            <a:ext cx="52069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Multi-omics Integration Trackplot: ATAC-seq (turkusowy) + CTCF ChIP-seq (fioletowy) + Hi-C heatmapa (KR) · chr17:30–35 Mb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43194" y="1011467"/>
            <a:ext cx="33174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ENCODE dla IMR-90: 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CTCF ChIP-seq (ENCFF603PYX, hg19) + ATAC-seq (ENCFF282RNO, GRCh38 → liftover pyliftover).
Peaki CTCF trafiają w granice TAD (~30.5, 31.5, 32, 33, 34, 34.6 Mb). ATAC-seq gęsty w całym regionie (otwarta chromatyna). Region ~34.5–35 Mb: brak sygnału we wszystkich tracksach — prawdopodobna heterochromatyna (ten sam biały krzyż co w sekcji 5).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9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Integracja z danymi 1D — Pile-up wzbogacenia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49808"/>
            <a:ext cx="8046720" cy="3139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62531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Pile-up sygnału 1D wokół granic TAD (n=13) vs kontrola losowa (n=996) · środek ±100 kb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48640" y="4163699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ATAC-seq central/distal: 0.98×  |  CTCF ChIP-seq central/distal: 1.07×
</a:t>
            </a: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Słabe wzbogacenie ilościowe wynika z małego N (tylko 13 granic w 5 Mb regionie) — literatura robi pile-up na setkach/tysiącach granic genome-wide. Jakościowo: peaki CTCF na trackplocie trafiają w nasze granice TAD, co jest zgodne z oczekiwaniami.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10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Detekcja pętli chromatynowych — Loop detection overlay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513" y="585216"/>
            <a:ext cx="3962973" cy="3547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78161" y="4192524"/>
            <a:ext cx="41876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CA3AF"/>
                </a:solidFill>
              </a:rPr>
              <a:t>chromosight (n=38, niebieskie ○) vs HiCCUPS ref (n=13, zielone ×) · chr17:30–35 Mb @ 10 kb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752550" y="4334256"/>
            <a:ext cx="563889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.hic → .cool @ 10 kb (hic2cool) + balansowanie (cooler balance). Detekcja chromosight (--pattern=loops). Większość zielonych X-ów ma pod sobą niebieskie kółka — pętle siedzą w rogach domen TAD.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11 / 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Detekcja pętli chromatynowych — Wyniki ilościowe</a:t>
            </a:r>
            <a:endParaRPr lang="en-US" sz="2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73672"/>
              </p:ext>
            </p:extLst>
          </p:nvPr>
        </p:nvGraphicFramePr>
        <p:xfrm>
          <a:off x="274320" y="795528"/>
          <a:ext cx="8595360" cy="1051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Zakres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 pred (chromosight)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 ref (HiCCUPS)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 wspólnych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chr17 całość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351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237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chr17:30–35 Mb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0.26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05740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4"/>
          <p:cNvSpPr/>
          <p:nvPr/>
        </p:nvSpPr>
        <p:spPr>
          <a:xfrm>
            <a:off x="365760" y="205740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50292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~70%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00" i="1" dirty="0"/>
              <a:t>Dobry wynik dla automatycznej detekcji — różne </a:t>
            </a:r>
            <a:r>
              <a:rPr lang="pl-PL" sz="1000" i="1" dirty="0" err="1"/>
              <a:t>loop</a:t>
            </a:r>
            <a:r>
              <a:rPr lang="pl-PL" sz="1000" i="1" dirty="0"/>
              <a:t> </a:t>
            </a:r>
            <a:r>
              <a:rPr lang="pl-PL" sz="1000" i="1" dirty="0" err="1"/>
              <a:t>callery</a:t>
            </a:r>
            <a:r>
              <a:rPr lang="pl-PL" sz="1000" i="1" dirty="0"/>
              <a:t> często dają rozbieżne wyniki na tych samych danych. Proporcje stabilne między zakresami (chr17 całość vs 30–35 </a:t>
            </a:r>
            <a:r>
              <a:rPr lang="pl-PL" sz="1000" i="1" dirty="0" err="1"/>
              <a:t>Mb</a:t>
            </a:r>
            <a:r>
              <a:rPr lang="pl-PL" sz="1000" i="1" dirty="0"/>
              <a:t>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205740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200400" y="205740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9"/>
          <p:cNvSpPr/>
          <p:nvPr/>
        </p:nvSpPr>
        <p:spPr>
          <a:xfrm>
            <a:off x="33375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Niska precyzja (29%)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3756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oznacza 72% false positives. chromosight ma luźniejsze progi (corr &gt; 0.3) niż HiCCUPS (FDR-based) — łapie też słabsze pętle, których HiCCUPS celowo nie zgłasza.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205740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2"/>
          <p:cNvSpPr/>
          <p:nvPr/>
        </p:nvSpPr>
        <p:spPr>
          <a:xfrm>
            <a:off x="6035040" y="205740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3"/>
          <p:cNvSpPr/>
          <p:nvPr/>
        </p:nvSpPr>
        <p:spPr>
          <a:xfrm>
            <a:off x="617220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 z modelem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2514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 siedzą w rogach domen TAD — potwierdzenie modelu CTCF-ekstruzji chromatyny z sekcji 3. Matching: tolerancja ±20 kb na kotwicach.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4892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CA3AF"/>
                </a:solidFill>
              </a:rPr>
              <a:t>12 / 12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457200" y="941832"/>
            <a:ext cx="274320" cy="27432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41248" y="8961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Hi-C — chr17:30–35 Mb @ 25 kb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41248" y="114300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 Hi-C IMR-90 (Rao 2014). Macierz kontaktów: szachownica A/B @ 250 kb, domeny TAD @ 25 kb. Normalizacja KR wyostrza granice.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4320" cy="27432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</a:rPr>
              <a:t>02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1248" y="1645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TAD-ów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189280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Score — wyższy recall, lepsze odwzorowanie małych domen. Directionality Index </a:t>
            </a:r>
            <a:r>
              <a:rPr lang="pl-PL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wyższa precyzja. Oba zgodne z referencją Arrowhead (Rao 2014).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441448"/>
            <a:ext cx="274320" cy="2743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57200" y="2441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</a:rPr>
              <a:t>03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41248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Motywy CTCF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1248" y="264261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Wzbogacenie na granicach TAD potwierdzone (rozkład normalny wokół 0 kb). Reguła zbieżności na kotwicach pętli: lewa kotwica → nić +, prawa → nić −.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274320" cy="27432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5720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</a:rPr>
              <a:t>04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1248" y="3145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Integracja 1D (ChIP-seq + ATAC-seq)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339242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Peaki CTCF jakościowo trafiają w granice TAD. Pile-up CTCF ~1.07× </a:t>
            </a:r>
            <a:r>
              <a:rPr lang="pl-PL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słaby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sygnał ilościowy ograniczony N=13 </a:t>
            </a:r>
            <a:r>
              <a:rPr lang="en-US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5 Mb (literature: </a:t>
            </a:r>
            <a:r>
              <a:rPr lang="en-US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tysiące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granic</a:t>
            </a: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genome-wide).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941064"/>
            <a:ext cx="274320" cy="2743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5720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11827"/>
                </a:solidFill>
              </a:rPr>
              <a:t>05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41248" y="38953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Pętle chromatynowe (chromosight vs HiCCUPS)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" y="414223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P=0.29, R=0.68, F1=0.40 </a:t>
            </a:r>
            <a:r>
              <a:rPr lang="pl-PL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pl-PL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chromosight</a:t>
            </a:r>
            <a:r>
              <a:rPr lang="pl-PL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łapie większość pętli </a:t>
            </a:r>
            <a:r>
              <a:rPr lang="pl-PL" sz="8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hiCCUPS</a:t>
            </a:r>
            <a:r>
              <a:rPr lang="pl-PL" sz="8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mimo różnic algorytmicznych. Pętle w rogach TAD - spójne z modelem CTCF-ekstruzji chromatyny.  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</a:rPr>
              <a:t>IMR-90 · GSE63525 · Rao et al., Cell 2014  |  Mateusz Osak · Krzysztof Dąbrowski · Szymon Domański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1176</Words>
  <Application>Microsoft Office PowerPoint</Application>
  <PresentationFormat>Pokaz na ekranie (16:9)</PresentationFormat>
  <Paragraphs>111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Dąbrowski Krzysztof 9 (STUD)</cp:lastModifiedBy>
  <cp:revision>5</cp:revision>
  <dcterms:created xsi:type="dcterms:W3CDTF">2026-06-06T10:55:02Z</dcterms:created>
  <dcterms:modified xsi:type="dcterms:W3CDTF">2026-06-06T11:20:24Z</dcterms:modified>
</cp:coreProperties>
</file>